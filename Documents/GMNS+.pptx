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8" r:id="rId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>
        <p:scale>
          <a:sx n="25" d="100"/>
          <a:sy n="25" d="100"/>
        </p:scale>
        <p:origin x="4483" y="16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18082-49A5-4657-9022-18E87F1BE66B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88C15-5B83-4142-9EC6-742036B4A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10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88C15-5B83-4142-9EC6-742036B4A3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00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D5C40-4877-44A7-B886-FC3CDC86F9F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44B76-ABD6-4A21-A282-129B62DA4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09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D5C40-4877-44A7-B886-FC3CDC86F9F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44B76-ABD6-4A21-A282-129B62DA4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95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D5C40-4877-44A7-B886-FC3CDC86F9F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44B76-ABD6-4A21-A282-129B62DA4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7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D5C40-4877-44A7-B886-FC3CDC86F9F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44B76-ABD6-4A21-A282-129B62DA4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5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D5C40-4877-44A7-B886-FC3CDC86F9F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44B76-ABD6-4A21-A282-129B62DA4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6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D5C40-4877-44A7-B886-FC3CDC86F9F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44B76-ABD6-4A21-A282-129B62DA4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68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D5C40-4877-44A7-B886-FC3CDC86F9F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44B76-ABD6-4A21-A282-129B62DA4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9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D5C40-4877-44A7-B886-FC3CDC86F9F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44B76-ABD6-4A21-A282-129B62DA4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4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D5C40-4877-44A7-B886-FC3CDC86F9F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44B76-ABD6-4A21-A282-129B62DA4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04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D5C40-4877-44A7-B886-FC3CDC86F9F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44B76-ABD6-4A21-A282-129B62DA4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1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D5C40-4877-44A7-B886-FC3CDC86F9F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44B76-ABD6-4A21-A282-129B62DA4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4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D5C40-4877-44A7-B886-FC3CDC86F9F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44B76-ABD6-4A21-A282-129B62DA4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7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jpg"/><Relationship Id="rId15" Type="http://schemas.openxmlformats.org/officeDocument/2006/relationships/image" Target="../media/image19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ap of england with red and black outline&#10;&#10;AI-generated content may be incorrect.">
            <a:extLst>
              <a:ext uri="{FF2B5EF4-FFF2-40B4-BE49-F238E27FC236}">
                <a16:creationId xmlns:a16="http://schemas.microsoft.com/office/drawing/2014/main" id="{F885CE64-0E03-ACF7-5F21-DC1285D74AF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64" t="7478"/>
          <a:stretch/>
        </p:blipFill>
        <p:spPr>
          <a:xfrm>
            <a:off x="-244021" y="137815"/>
            <a:ext cx="2902383" cy="4434185"/>
          </a:xfrm>
          <a:prstGeom prst="rect">
            <a:avLst/>
          </a:prstGeom>
        </p:spPr>
      </p:pic>
      <p:pic>
        <p:nvPicPr>
          <p:cNvPr id="3" name="Picture 2" descr="A map of the united states&#10;&#10;AI-generated content may be incorrect.">
            <a:extLst>
              <a:ext uri="{FF2B5EF4-FFF2-40B4-BE49-F238E27FC236}">
                <a16:creationId xmlns:a16="http://schemas.microsoft.com/office/drawing/2014/main" id="{581C836D-5507-41F3-FF4F-183BFBC50B3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32" t="53982"/>
          <a:stretch/>
        </p:blipFill>
        <p:spPr>
          <a:xfrm>
            <a:off x="-128513" y="6276180"/>
            <a:ext cx="2115664" cy="1338880"/>
          </a:xfrm>
          <a:prstGeom prst="rect">
            <a:avLst/>
          </a:prstGeom>
        </p:spPr>
      </p:pic>
      <p:pic>
        <p:nvPicPr>
          <p:cNvPr id="4" name="Picture 3" descr="A map of australia with red dots&#10;&#10;AI-generated content may be incorrect.">
            <a:extLst>
              <a:ext uri="{FF2B5EF4-FFF2-40B4-BE49-F238E27FC236}">
                <a16:creationId xmlns:a16="http://schemas.microsoft.com/office/drawing/2014/main" id="{4AFC5375-067F-7CC2-C4A9-4E06AC2D696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4" b="22419"/>
          <a:stretch/>
        </p:blipFill>
        <p:spPr>
          <a:xfrm>
            <a:off x="6869256" y="244737"/>
            <a:ext cx="3900343" cy="3018606"/>
          </a:xfrm>
          <a:prstGeom prst="rect">
            <a:avLst/>
          </a:prstGeom>
        </p:spPr>
      </p:pic>
      <p:pic>
        <p:nvPicPr>
          <p:cNvPr id="5" name="Picture 4" descr="A outline of the state of alaska&#10;&#10;AI-generated content may be incorrect.">
            <a:extLst>
              <a:ext uri="{FF2B5EF4-FFF2-40B4-BE49-F238E27FC236}">
                <a16:creationId xmlns:a16="http://schemas.microsoft.com/office/drawing/2014/main" id="{0B397EB2-A61B-1AD1-54FF-FFED3E05BA7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6"/>
          <a:stretch/>
        </p:blipFill>
        <p:spPr>
          <a:xfrm>
            <a:off x="205742" y="4719882"/>
            <a:ext cx="1531618" cy="1385429"/>
          </a:xfrm>
          <a:prstGeom prst="rect">
            <a:avLst/>
          </a:prstGeom>
        </p:spPr>
      </p:pic>
      <p:pic>
        <p:nvPicPr>
          <p:cNvPr id="7" name="Picture 6" descr="A map of germany with red and black outline&#10;&#10;AI-generated content may be incorrect.">
            <a:extLst>
              <a:ext uri="{FF2B5EF4-FFF2-40B4-BE49-F238E27FC236}">
                <a16:creationId xmlns:a16="http://schemas.microsoft.com/office/drawing/2014/main" id="{44FB123D-2692-BB1B-1340-7AAB5B4391A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27"/>
          <a:stretch/>
        </p:blipFill>
        <p:spPr>
          <a:xfrm>
            <a:off x="3366592" y="104483"/>
            <a:ext cx="2982531" cy="34767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BB5134-B762-57B6-718B-E5BC6821DB32}"/>
              </a:ext>
            </a:extLst>
          </p:cNvPr>
          <p:cNvSpPr txBox="1"/>
          <p:nvPr/>
        </p:nvSpPr>
        <p:spPr>
          <a:xfrm>
            <a:off x="-377595" y="145549"/>
            <a:ext cx="1772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Kingdom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6B3D65-157F-D2FF-E5C2-E8A4C3A6B7D8}"/>
              </a:ext>
            </a:extLst>
          </p:cNvPr>
          <p:cNvSpPr txBox="1"/>
          <p:nvPr/>
        </p:nvSpPr>
        <p:spPr>
          <a:xfrm>
            <a:off x="-288972" y="5982805"/>
            <a:ext cx="2281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- Hawaii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9559E-2A68-C39C-3EF5-BD2C62C2687D}"/>
              </a:ext>
            </a:extLst>
          </p:cNvPr>
          <p:cNvSpPr txBox="1"/>
          <p:nvPr/>
        </p:nvSpPr>
        <p:spPr>
          <a:xfrm>
            <a:off x="7402003" y="145549"/>
            <a:ext cx="1066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1D965A-986A-8F87-FA03-9746FD969D59}"/>
              </a:ext>
            </a:extLst>
          </p:cNvPr>
          <p:cNvSpPr txBox="1"/>
          <p:nvPr/>
        </p:nvSpPr>
        <p:spPr>
          <a:xfrm>
            <a:off x="-250564" y="4350550"/>
            <a:ext cx="224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- Alaska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B8451F-39BE-DD4B-EA18-AB95554A5B3B}"/>
              </a:ext>
            </a:extLst>
          </p:cNvPr>
          <p:cNvSpPr txBox="1"/>
          <p:nvPr/>
        </p:nvSpPr>
        <p:spPr>
          <a:xfrm>
            <a:off x="5526149" y="3235661"/>
            <a:ext cx="5019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– Continental United States (CONUS)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02D94F-DFE7-4FFB-88A9-5D7A8DB8E66F}"/>
              </a:ext>
            </a:extLst>
          </p:cNvPr>
          <p:cNvSpPr txBox="1"/>
          <p:nvPr/>
        </p:nvSpPr>
        <p:spPr>
          <a:xfrm>
            <a:off x="3233567" y="145549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Germany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FE07D-F757-5FD8-4FAC-DF1FA788CE06}"/>
              </a:ext>
            </a:extLst>
          </p:cNvPr>
          <p:cNvSpPr txBox="1"/>
          <p:nvPr/>
        </p:nvSpPr>
        <p:spPr>
          <a:xfrm>
            <a:off x="2141619" y="-11316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26 representative cities and 36 transportation networks across 4 countries are included in this study.</a:t>
            </a:r>
          </a:p>
        </p:txBody>
      </p:sp>
      <p:pic>
        <p:nvPicPr>
          <p:cNvPr id="16" name="Picture 15" descr="A map of the united states&#10;&#10;AI-generated content may be incorrect.">
            <a:extLst>
              <a:ext uri="{FF2B5EF4-FFF2-40B4-BE49-F238E27FC236}">
                <a16:creationId xmlns:a16="http://schemas.microsoft.com/office/drawing/2014/main" id="{8E7643F0-455B-5729-BCE9-BC02B5BCE87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38" b="4287"/>
          <a:stretch/>
        </p:blipFill>
        <p:spPr>
          <a:xfrm>
            <a:off x="2102659" y="3491447"/>
            <a:ext cx="8588814" cy="4211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F39017-88EB-D1DC-BE07-B762177B5A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859226" y="104483"/>
            <a:ext cx="10203731" cy="692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548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1272CAD1-A5FC-FDA9-AA69-6BD1C6AA2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036714" y="-2952088"/>
            <a:ext cx="13051850" cy="11037946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EC236E9-D08A-0B8D-1411-F605A866C8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95" y="548853"/>
            <a:ext cx="555935" cy="555935"/>
          </a:xfrm>
          <a:prstGeom prst="rect">
            <a:avLst/>
          </a:prstGeom>
        </p:spPr>
      </p:pic>
      <p:pic>
        <p:nvPicPr>
          <p:cNvPr id="9" name="Picture 8" descr="A map of the chicago area&#10;&#10;AI-generated content may be incorrect.">
            <a:extLst>
              <a:ext uri="{FF2B5EF4-FFF2-40B4-BE49-F238E27FC236}">
                <a16:creationId xmlns:a16="http://schemas.microsoft.com/office/drawing/2014/main" id="{75D98345-5000-D09E-7C50-4B3B96423C11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0"/>
          <a:stretch/>
        </p:blipFill>
        <p:spPr>
          <a:xfrm>
            <a:off x="2379234" y="1227378"/>
            <a:ext cx="988622" cy="732814"/>
          </a:xfrm>
          <a:prstGeom prst="rect">
            <a:avLst/>
          </a:prstGeom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EC09A7D6-1B9B-F740-B352-3AA9E17E4C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1" t="9941" r="21222" b="35882"/>
          <a:stretch/>
        </p:blipFill>
        <p:spPr bwMode="auto">
          <a:xfrm>
            <a:off x="159773" y="6828268"/>
            <a:ext cx="910059" cy="86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Generated image">
            <a:extLst>
              <a:ext uri="{FF2B5EF4-FFF2-40B4-BE49-F238E27FC236}">
                <a16:creationId xmlns:a16="http://schemas.microsoft.com/office/drawing/2014/main" id="{8BD91431-86C3-FB3F-0F76-21816472C0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9" t="9939" r="22215" b="35884"/>
          <a:stretch/>
        </p:blipFill>
        <p:spPr bwMode="auto">
          <a:xfrm>
            <a:off x="1572715" y="6828268"/>
            <a:ext cx="888947" cy="86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Generated image">
            <a:extLst>
              <a:ext uri="{FF2B5EF4-FFF2-40B4-BE49-F238E27FC236}">
                <a16:creationId xmlns:a16="http://schemas.microsoft.com/office/drawing/2014/main" id="{104B5EA8-F286-D6B4-FAC5-C61F31827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74" t="7540" r="21215" b="31686"/>
          <a:stretch/>
        </p:blipFill>
        <p:spPr bwMode="auto">
          <a:xfrm>
            <a:off x="2982833" y="6828268"/>
            <a:ext cx="820571" cy="86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0" descr="Generated image">
            <a:extLst>
              <a:ext uri="{FF2B5EF4-FFF2-40B4-BE49-F238E27FC236}">
                <a16:creationId xmlns:a16="http://schemas.microsoft.com/office/drawing/2014/main" id="{04B03519-3EA0-745E-0574-1DD467B8C3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EFEFF"/>
              </a:clrFrom>
              <a:clrTo>
                <a:srgbClr val="FE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19" t="29067" r="1848" b="44706"/>
          <a:stretch/>
        </p:blipFill>
        <p:spPr bwMode="auto">
          <a:xfrm>
            <a:off x="5783557" y="6828268"/>
            <a:ext cx="778912" cy="86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0" descr="Generated image">
            <a:extLst>
              <a:ext uri="{FF2B5EF4-FFF2-40B4-BE49-F238E27FC236}">
                <a16:creationId xmlns:a16="http://schemas.microsoft.com/office/drawing/2014/main" id="{85C28EA5-4B52-73A9-3076-E644E7877D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EFEFF"/>
              </a:clrFrom>
              <a:clrTo>
                <a:srgbClr val="FE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80" t="28775" r="20268" b="43820"/>
          <a:stretch/>
        </p:blipFill>
        <p:spPr bwMode="auto">
          <a:xfrm>
            <a:off x="4287999" y="6828268"/>
            <a:ext cx="992674" cy="86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25BE47A-C557-A614-686A-0B9F3943A4A0}"/>
              </a:ext>
            </a:extLst>
          </p:cNvPr>
          <p:cNvSpPr txBox="1"/>
          <p:nvPr/>
        </p:nvSpPr>
        <p:spPr>
          <a:xfrm>
            <a:off x="-120643" y="7724380"/>
            <a:ext cx="1463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and vehicle routing problems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841D01-D3DB-F19B-07F2-E129BF46E92F}"/>
              </a:ext>
            </a:extLst>
          </p:cNvPr>
          <p:cNvSpPr txBox="1"/>
          <p:nvPr/>
        </p:nvSpPr>
        <p:spPr>
          <a:xfrm>
            <a:off x="1241681" y="7724380"/>
            <a:ext cx="15334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assignment problem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589C28-72E7-858B-DC95-1E61E4960487}"/>
              </a:ext>
            </a:extLst>
          </p:cNvPr>
          <p:cNvSpPr txBox="1"/>
          <p:nvPr/>
        </p:nvSpPr>
        <p:spPr>
          <a:xfrm>
            <a:off x="2762954" y="7724380"/>
            <a:ext cx="13563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Facility location problem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1712F6-C5A4-EE53-97E3-764603B4D12D}"/>
              </a:ext>
            </a:extLst>
          </p:cNvPr>
          <p:cNvSpPr txBox="1"/>
          <p:nvPr/>
        </p:nvSpPr>
        <p:spPr>
          <a:xfrm>
            <a:off x="4006419" y="7724380"/>
            <a:ext cx="16081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Origin–destination demand estimation (ODME)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DFE78F-7228-89ED-48DC-A0ADEC18015F}"/>
              </a:ext>
            </a:extLst>
          </p:cNvPr>
          <p:cNvSpPr txBox="1"/>
          <p:nvPr/>
        </p:nvSpPr>
        <p:spPr>
          <a:xfrm>
            <a:off x="5501627" y="7724380"/>
            <a:ext cx="13563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network design problem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DC02F4A-80B6-D850-2319-D9E5D3F09E0E}"/>
              </a:ext>
            </a:extLst>
          </p:cNvPr>
          <p:cNvSpPr/>
          <p:nvPr/>
        </p:nvSpPr>
        <p:spPr>
          <a:xfrm>
            <a:off x="0" y="6281420"/>
            <a:ext cx="6858000" cy="2181624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5277B8-DCB3-578C-9183-7150221BD578}"/>
              </a:ext>
            </a:extLst>
          </p:cNvPr>
          <p:cNvSpPr txBox="1"/>
          <p:nvPr/>
        </p:nvSpPr>
        <p:spPr>
          <a:xfrm>
            <a:off x="18345" y="6359968"/>
            <a:ext cx="5018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Transportation Optimization Models and Benchmarks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6D0BE4-FF81-8D59-0C0D-A8531B856D0A}"/>
              </a:ext>
            </a:extLst>
          </p:cNvPr>
          <p:cNvSpPr txBox="1"/>
          <p:nvPr/>
        </p:nvSpPr>
        <p:spPr>
          <a:xfrm>
            <a:off x="2396648" y="1960192"/>
            <a:ext cx="938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 Data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BD2AF8-5CEF-069F-0156-C35F2AC7638B}"/>
              </a:ext>
            </a:extLst>
          </p:cNvPr>
          <p:cNvSpPr txBox="1"/>
          <p:nvPr/>
        </p:nvSpPr>
        <p:spPr>
          <a:xfrm rot="16200000">
            <a:off x="-658888" y="4378614"/>
            <a:ext cx="825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GMNS+</a:t>
            </a:r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2B5E56FB-727B-C4F2-6776-CA276B54F49C}"/>
              </a:ext>
            </a:extLst>
          </p:cNvPr>
          <p:cNvSpPr/>
          <p:nvPr/>
        </p:nvSpPr>
        <p:spPr>
          <a:xfrm>
            <a:off x="-123673" y="81949"/>
            <a:ext cx="142018" cy="8902031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562E727-594D-CE1B-B0B3-8BF8A60734DD}"/>
              </a:ext>
            </a:extLst>
          </p:cNvPr>
          <p:cNvSpPr/>
          <p:nvPr/>
        </p:nvSpPr>
        <p:spPr>
          <a:xfrm>
            <a:off x="0" y="2675752"/>
            <a:ext cx="6858000" cy="1870104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5B7AD19B-EE41-9057-42A8-FF6B8C4C5CB6}"/>
              </a:ext>
            </a:extLst>
          </p:cNvPr>
          <p:cNvSpPr/>
          <p:nvPr/>
        </p:nvSpPr>
        <p:spPr>
          <a:xfrm>
            <a:off x="228039" y="4595150"/>
            <a:ext cx="481791" cy="21336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D74BE06B-7BC8-CB4B-B7B0-09BCB939C0A0}"/>
              </a:ext>
            </a:extLst>
          </p:cNvPr>
          <p:cNvSpPr/>
          <p:nvPr/>
        </p:nvSpPr>
        <p:spPr>
          <a:xfrm>
            <a:off x="228039" y="8541592"/>
            <a:ext cx="481791" cy="21336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2974928-82EE-B834-C498-372202E39C03}"/>
              </a:ext>
            </a:extLst>
          </p:cNvPr>
          <p:cNvSpPr/>
          <p:nvPr/>
        </p:nvSpPr>
        <p:spPr>
          <a:xfrm>
            <a:off x="77429" y="8830671"/>
            <a:ext cx="1354333" cy="273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Reproducibility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B787F2E-07EA-C186-C019-4651A881BF78}"/>
              </a:ext>
            </a:extLst>
          </p:cNvPr>
          <p:cNvSpPr/>
          <p:nvPr/>
        </p:nvSpPr>
        <p:spPr>
          <a:xfrm>
            <a:off x="1883107" y="8830671"/>
            <a:ext cx="1354333" cy="273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Comparability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48054DE-9786-13A6-069F-C2DA5CBFD475}"/>
              </a:ext>
            </a:extLst>
          </p:cNvPr>
          <p:cNvSpPr/>
          <p:nvPr/>
        </p:nvSpPr>
        <p:spPr>
          <a:xfrm>
            <a:off x="3688785" y="8830671"/>
            <a:ext cx="1354333" cy="273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3362215-4BDF-B376-6C31-7ED2F248244B}"/>
              </a:ext>
            </a:extLst>
          </p:cNvPr>
          <p:cNvSpPr/>
          <p:nvPr/>
        </p:nvSpPr>
        <p:spPr>
          <a:xfrm>
            <a:off x="5494464" y="8830671"/>
            <a:ext cx="1354333" cy="273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3AA508-677A-3184-15E9-E273819F2687}"/>
              </a:ext>
            </a:extLst>
          </p:cNvPr>
          <p:cNvSpPr txBox="1"/>
          <p:nvPr/>
        </p:nvSpPr>
        <p:spPr>
          <a:xfrm>
            <a:off x="754595" y="8463078"/>
            <a:ext cx="19052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Keywords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D65319-020C-F203-06D5-35043FFB58D8}"/>
              </a:ext>
            </a:extLst>
          </p:cNvPr>
          <p:cNvSpPr txBox="1"/>
          <p:nvPr/>
        </p:nvSpPr>
        <p:spPr>
          <a:xfrm>
            <a:off x="18345" y="2765535"/>
            <a:ext cx="47959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Multi-Level Modeling Readiness and Validation Framework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61AD1A30-0A53-131A-0FAA-FEA3DCEC1D76}"/>
              </a:ext>
            </a:extLst>
          </p:cNvPr>
          <p:cNvSpPr txBox="1"/>
          <p:nvPr/>
        </p:nvSpPr>
        <p:spPr>
          <a:xfrm>
            <a:off x="159773" y="3174917"/>
            <a:ext cx="26145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1: Basic Data File Validation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8128488D-14FF-F11C-AB16-5773877E1D5C}"/>
              </a:ext>
            </a:extLst>
          </p:cNvPr>
          <p:cNvSpPr txBox="1"/>
          <p:nvPr/>
        </p:nvSpPr>
        <p:spPr>
          <a:xfrm>
            <a:off x="159773" y="3510347"/>
            <a:ext cx="291362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2: Demand and Zone Consistency</a:t>
            </a:r>
          </a:p>
        </p:txBody>
      </p:sp>
      <p:sp>
        <p:nvSpPr>
          <p:cNvPr id="1031" name="Rectangle: Rounded Corners 1030">
            <a:extLst>
              <a:ext uri="{FF2B5EF4-FFF2-40B4-BE49-F238E27FC236}">
                <a16:creationId xmlns:a16="http://schemas.microsoft.com/office/drawing/2014/main" id="{D1AC3988-2117-A444-AD3B-90A12CD9795E}"/>
              </a:ext>
            </a:extLst>
          </p:cNvPr>
          <p:cNvSpPr/>
          <p:nvPr/>
        </p:nvSpPr>
        <p:spPr>
          <a:xfrm>
            <a:off x="9173" y="4861077"/>
            <a:ext cx="6858000" cy="1052716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Arrow: Down 1032">
            <a:extLst>
              <a:ext uri="{FF2B5EF4-FFF2-40B4-BE49-F238E27FC236}">
                <a16:creationId xmlns:a16="http://schemas.microsoft.com/office/drawing/2014/main" id="{90F47699-695F-AB76-2AEE-902152FAFCB4}"/>
              </a:ext>
            </a:extLst>
          </p:cNvPr>
          <p:cNvSpPr/>
          <p:nvPr/>
        </p:nvSpPr>
        <p:spPr>
          <a:xfrm>
            <a:off x="228039" y="5977256"/>
            <a:ext cx="481791" cy="21336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8D727F8E-3957-446D-1D3F-0913D8B09A86}"/>
              </a:ext>
            </a:extLst>
          </p:cNvPr>
          <p:cNvSpPr txBox="1"/>
          <p:nvPr/>
        </p:nvSpPr>
        <p:spPr>
          <a:xfrm>
            <a:off x="159773" y="3845777"/>
            <a:ext cx="284982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3: Network Attributes Validation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8C1CDA60-E5C5-38C1-094B-3D90CBED85F0}"/>
              </a:ext>
            </a:extLst>
          </p:cNvPr>
          <p:cNvSpPr txBox="1"/>
          <p:nvPr/>
        </p:nvSpPr>
        <p:spPr>
          <a:xfrm>
            <a:off x="3458668" y="3510347"/>
            <a:ext cx="252749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6: Accessibility Assessment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160EF8EB-6690-6CAD-1D6A-6DFAC904DDEA}"/>
              </a:ext>
            </a:extLst>
          </p:cNvPr>
          <p:cNvSpPr txBox="1"/>
          <p:nvPr/>
        </p:nvSpPr>
        <p:spPr>
          <a:xfrm>
            <a:off x="159773" y="4181206"/>
            <a:ext cx="34238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4: Single Mode Configuration Validation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21D03690-C535-D2C6-E308-508C75E1BA33}"/>
              </a:ext>
            </a:extLst>
          </p:cNvPr>
          <p:cNvSpPr txBox="1"/>
          <p:nvPr/>
        </p:nvSpPr>
        <p:spPr>
          <a:xfrm>
            <a:off x="2746983" y="3171290"/>
            <a:ext cx="4138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5: Observed Volume Checks and ODME Preparation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9488105F-9DFC-A220-8E5D-EB8685D39D3A}"/>
              </a:ext>
            </a:extLst>
          </p:cNvPr>
          <p:cNvSpPr txBox="1"/>
          <p:nvPr/>
        </p:nvSpPr>
        <p:spPr>
          <a:xfrm>
            <a:off x="3458668" y="3840102"/>
            <a:ext cx="284982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7: Traffic Assignment Validation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BC52CF22-090E-7A14-DA2E-1C29474C7ADF}"/>
              </a:ext>
            </a:extLst>
          </p:cNvPr>
          <p:cNvSpPr txBox="1"/>
          <p:nvPr/>
        </p:nvSpPr>
        <p:spPr>
          <a:xfrm>
            <a:off x="3453587" y="4181053"/>
            <a:ext cx="34238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8: Extended ODME Post-Quality Checks</a:t>
            </a:r>
          </a:p>
        </p:txBody>
      </p:sp>
      <p:sp>
        <p:nvSpPr>
          <p:cNvPr id="1047" name="Rectangle: Rounded Corners 1046">
            <a:extLst>
              <a:ext uri="{FF2B5EF4-FFF2-40B4-BE49-F238E27FC236}">
                <a16:creationId xmlns:a16="http://schemas.microsoft.com/office/drawing/2014/main" id="{ACC4AA26-5691-3962-0DA8-1926684D3469}"/>
              </a:ext>
            </a:extLst>
          </p:cNvPr>
          <p:cNvSpPr/>
          <p:nvPr/>
        </p:nvSpPr>
        <p:spPr>
          <a:xfrm>
            <a:off x="23961" y="61333"/>
            <a:ext cx="3559678" cy="224679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18F9CBBA-B21E-A2EB-89B3-31AE53647315}"/>
              </a:ext>
            </a:extLst>
          </p:cNvPr>
          <p:cNvSpPr txBox="1"/>
          <p:nvPr/>
        </p:nvSpPr>
        <p:spPr>
          <a:xfrm>
            <a:off x="178482" y="99684"/>
            <a:ext cx="32960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Multi-modal Network Data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B79C00D7-2296-D322-3FD7-3E8E76BE525D}"/>
              </a:ext>
            </a:extLst>
          </p:cNvPr>
          <p:cNvSpPr txBox="1"/>
          <p:nvPr/>
        </p:nvSpPr>
        <p:spPr>
          <a:xfrm>
            <a:off x="3763954" y="99684"/>
            <a:ext cx="1604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Tools</a:t>
            </a:r>
          </a:p>
        </p:txBody>
      </p:sp>
      <p:pic>
        <p:nvPicPr>
          <p:cNvPr id="1050" name="Picture 1049">
            <a:extLst>
              <a:ext uri="{FF2B5EF4-FFF2-40B4-BE49-F238E27FC236}">
                <a16:creationId xmlns:a16="http://schemas.microsoft.com/office/drawing/2014/main" id="{4C783746-67EE-1A3A-EF49-3F060EFD2507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3186" t="30314" r="22364" b="30249"/>
          <a:stretch/>
        </p:blipFill>
        <p:spPr>
          <a:xfrm>
            <a:off x="5862838" y="2644549"/>
            <a:ext cx="878967" cy="636613"/>
          </a:xfrm>
          <a:prstGeom prst="rect">
            <a:avLst/>
          </a:prstGeom>
        </p:spPr>
      </p:pic>
      <p:sp>
        <p:nvSpPr>
          <p:cNvPr id="1051" name="Rectangle: Rounded Corners 1050">
            <a:extLst>
              <a:ext uri="{FF2B5EF4-FFF2-40B4-BE49-F238E27FC236}">
                <a16:creationId xmlns:a16="http://schemas.microsoft.com/office/drawing/2014/main" id="{48E538A3-0750-CEB6-2A95-6B1BE72C7F24}"/>
              </a:ext>
            </a:extLst>
          </p:cNvPr>
          <p:cNvSpPr/>
          <p:nvPr/>
        </p:nvSpPr>
        <p:spPr>
          <a:xfrm>
            <a:off x="3688785" y="70762"/>
            <a:ext cx="3145255" cy="2217354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06FED9CC-A341-0F73-AA81-3463B29E7CC2}"/>
              </a:ext>
            </a:extLst>
          </p:cNvPr>
          <p:cNvSpPr txBox="1"/>
          <p:nvPr/>
        </p:nvSpPr>
        <p:spPr>
          <a:xfrm>
            <a:off x="18345" y="4911007"/>
            <a:ext cx="48365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Checking Considering Congestion and Queuing</a:t>
            </a:r>
          </a:p>
        </p:txBody>
      </p:sp>
      <p:pic>
        <p:nvPicPr>
          <p:cNvPr id="1053" name="Picture 15" descr="Generated image">
            <a:extLst>
              <a:ext uri="{FF2B5EF4-FFF2-40B4-BE49-F238E27FC236}">
                <a16:creationId xmlns:a16="http://schemas.microsoft.com/office/drawing/2014/main" id="{AAEF73B9-09E8-D285-CE92-EA4134F0B2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6" t="9633" r="18182" b="29641"/>
          <a:stretch/>
        </p:blipFill>
        <p:spPr bwMode="auto">
          <a:xfrm>
            <a:off x="5907093" y="4979277"/>
            <a:ext cx="802799" cy="769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1054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C4125034-B277-659B-4FF8-12405515AC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9" r="37272" b="40861"/>
          <a:stretch/>
        </p:blipFill>
        <p:spPr>
          <a:xfrm>
            <a:off x="1881745" y="395268"/>
            <a:ext cx="1537062" cy="729721"/>
          </a:xfrm>
          <a:prstGeom prst="rect">
            <a:avLst/>
          </a:prstGeom>
        </p:spPr>
      </p:pic>
      <p:sp>
        <p:nvSpPr>
          <p:cNvPr id="1056" name="TextBox 1055">
            <a:extLst>
              <a:ext uri="{FF2B5EF4-FFF2-40B4-BE49-F238E27FC236}">
                <a16:creationId xmlns:a16="http://schemas.microsoft.com/office/drawing/2014/main" id="{EA6F012A-1F4D-8B6D-6811-C91E8AFD44E7}"/>
              </a:ext>
            </a:extLst>
          </p:cNvPr>
          <p:cNvSpPr txBox="1"/>
          <p:nvPr/>
        </p:nvSpPr>
        <p:spPr>
          <a:xfrm>
            <a:off x="83787" y="5489607"/>
            <a:ext cx="55307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Cross-resolution Queueing-based Volume-Delay Function (QVDF) model</a:t>
            </a:r>
          </a:p>
        </p:txBody>
      </p:sp>
      <p:sp>
        <p:nvSpPr>
          <p:cNvPr id="1057" name="Arrow: Down 1056">
            <a:extLst>
              <a:ext uri="{FF2B5EF4-FFF2-40B4-BE49-F238E27FC236}">
                <a16:creationId xmlns:a16="http://schemas.microsoft.com/office/drawing/2014/main" id="{1EA33BA6-39BB-914C-3F9E-DE9DE36B02A1}"/>
              </a:ext>
            </a:extLst>
          </p:cNvPr>
          <p:cNvSpPr/>
          <p:nvPr/>
        </p:nvSpPr>
        <p:spPr>
          <a:xfrm>
            <a:off x="228039" y="2353525"/>
            <a:ext cx="481791" cy="21336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6F289ABB-3D24-AE57-6BE4-5BB74B5721F1}"/>
              </a:ext>
            </a:extLst>
          </p:cNvPr>
          <p:cNvSpPr txBox="1"/>
          <p:nvPr/>
        </p:nvSpPr>
        <p:spPr>
          <a:xfrm>
            <a:off x="669125" y="2290175"/>
            <a:ext cx="25683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Data Quality Checking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E8F380AE-109D-81C9-04F3-363F45A5D461}"/>
              </a:ext>
            </a:extLst>
          </p:cNvPr>
          <p:cNvSpPr txBox="1"/>
          <p:nvPr/>
        </p:nvSpPr>
        <p:spPr>
          <a:xfrm>
            <a:off x="671507" y="4518002"/>
            <a:ext cx="25683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Checking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E0EFA2BF-C8CC-ECE0-1011-2A8C21C594D6}"/>
              </a:ext>
            </a:extLst>
          </p:cNvPr>
          <p:cNvSpPr txBox="1"/>
          <p:nvPr/>
        </p:nvSpPr>
        <p:spPr>
          <a:xfrm>
            <a:off x="658992" y="5909088"/>
            <a:ext cx="31049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and Simulation Problems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5AAC447A-5961-8D8F-0439-280439B5DDC5}"/>
              </a:ext>
            </a:extLst>
          </p:cNvPr>
          <p:cNvSpPr txBox="1"/>
          <p:nvPr/>
        </p:nvSpPr>
        <p:spPr>
          <a:xfrm>
            <a:off x="83787" y="5217248"/>
            <a:ext cx="2377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Volume-delay function (VDF)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FB30CF73-8E86-9056-BBED-A62BB62E6009}"/>
              </a:ext>
            </a:extLst>
          </p:cNvPr>
          <p:cNvSpPr txBox="1"/>
          <p:nvPr/>
        </p:nvSpPr>
        <p:spPr>
          <a:xfrm>
            <a:off x="2835691" y="5217247"/>
            <a:ext cx="937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DTALite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7F97DC81-8827-8134-1253-4471702D2004}"/>
              </a:ext>
            </a:extLst>
          </p:cNvPr>
          <p:cNvSpPr txBox="1"/>
          <p:nvPr/>
        </p:nvSpPr>
        <p:spPr>
          <a:xfrm>
            <a:off x="3817166" y="522315"/>
            <a:ext cx="26145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Building: OSM2GMNS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8D6EACF8-B88D-C2AE-8335-7D25BA1B42FE}"/>
              </a:ext>
            </a:extLst>
          </p:cNvPr>
          <p:cNvSpPr txBox="1"/>
          <p:nvPr/>
        </p:nvSpPr>
        <p:spPr>
          <a:xfrm>
            <a:off x="3817166" y="939332"/>
            <a:ext cx="26145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Checking: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DTALite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A828D7AF-3063-C90D-E3DA-9F96E711DBEE}"/>
              </a:ext>
            </a:extLst>
          </p:cNvPr>
          <p:cNvSpPr txBox="1"/>
          <p:nvPr/>
        </p:nvSpPr>
        <p:spPr>
          <a:xfrm>
            <a:off x="3817166" y="1356349"/>
            <a:ext cx="26145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Assignment: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DTALite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4D243A3-1086-BD8F-9C54-CEDB18BD3A39}"/>
              </a:ext>
            </a:extLst>
          </p:cNvPr>
          <p:cNvSpPr txBox="1"/>
          <p:nvPr/>
        </p:nvSpPr>
        <p:spPr>
          <a:xfrm>
            <a:off x="3817166" y="1773366"/>
            <a:ext cx="26145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NEXTA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CA457716-AD19-3EAB-C0BE-1BD41208EC8C}"/>
              </a:ext>
            </a:extLst>
          </p:cNvPr>
          <p:cNvSpPr txBox="1"/>
          <p:nvPr/>
        </p:nvSpPr>
        <p:spPr>
          <a:xfrm>
            <a:off x="4171061" y="5233546"/>
            <a:ext cx="937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D/C</a:t>
            </a:r>
          </a:p>
        </p:txBody>
      </p:sp>
      <p:pic>
        <p:nvPicPr>
          <p:cNvPr id="1073" name="Picture 1072">
            <a:extLst>
              <a:ext uri="{FF2B5EF4-FFF2-40B4-BE49-F238E27FC236}">
                <a16:creationId xmlns:a16="http://schemas.microsoft.com/office/drawing/2014/main" id="{CEA28BC1-D8F7-D818-BFA8-A41974D8CB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ChalkSketch/>
                    </a14:imgEffect>
                  </a14:imgLayer>
                </a14:imgProps>
              </a:ext>
            </a:extLst>
          </a:blip>
          <a:srcRect t="10094" r="13981"/>
          <a:stretch/>
        </p:blipFill>
        <p:spPr>
          <a:xfrm>
            <a:off x="248744" y="1248373"/>
            <a:ext cx="1108893" cy="707357"/>
          </a:xfrm>
          <a:prstGeom prst="rect">
            <a:avLst/>
          </a:prstGeom>
        </p:spPr>
      </p:pic>
      <p:sp>
        <p:nvSpPr>
          <p:cNvPr id="1074" name="TextBox 1073">
            <a:extLst>
              <a:ext uri="{FF2B5EF4-FFF2-40B4-BE49-F238E27FC236}">
                <a16:creationId xmlns:a16="http://schemas.microsoft.com/office/drawing/2014/main" id="{B3BB5AF2-A2E2-0A81-7980-8B3A7BC1E096}"/>
              </a:ext>
            </a:extLst>
          </p:cNvPr>
          <p:cNvSpPr txBox="1"/>
          <p:nvPr/>
        </p:nvSpPr>
        <p:spPr>
          <a:xfrm>
            <a:off x="215736" y="1962237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Data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99661FA3-5A48-9221-78EC-7F9C0026786F}"/>
              </a:ext>
            </a:extLst>
          </p:cNvPr>
          <p:cNvSpPr txBox="1"/>
          <p:nvPr/>
        </p:nvSpPr>
        <p:spPr>
          <a:xfrm>
            <a:off x="1307103" y="1962203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Data</a:t>
            </a:r>
          </a:p>
        </p:txBody>
      </p:sp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06AC1A6E-BD81-94E2-AEE8-57FAF420C4EF}"/>
              </a:ext>
            </a:extLst>
          </p:cNvPr>
          <p:cNvCxnSpPr/>
          <p:nvPr/>
        </p:nvCxnSpPr>
        <p:spPr>
          <a:xfrm>
            <a:off x="1357637" y="2005117"/>
            <a:ext cx="0" cy="2877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8" name="Straight Connector 1077">
            <a:extLst>
              <a:ext uri="{FF2B5EF4-FFF2-40B4-BE49-F238E27FC236}">
                <a16:creationId xmlns:a16="http://schemas.microsoft.com/office/drawing/2014/main" id="{64EFD039-8CDE-BCBF-1E13-E6E8E5F66849}"/>
              </a:ext>
            </a:extLst>
          </p:cNvPr>
          <p:cNvCxnSpPr/>
          <p:nvPr/>
        </p:nvCxnSpPr>
        <p:spPr>
          <a:xfrm>
            <a:off x="2437912" y="2005117"/>
            <a:ext cx="0" cy="2877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79" name="Picture 17" descr="Generated image">
            <a:extLst>
              <a:ext uri="{FF2B5EF4-FFF2-40B4-BE49-F238E27FC236}">
                <a16:creationId xmlns:a16="http://schemas.microsoft.com/office/drawing/2014/main" id="{95F3C85C-00CD-88F9-81E0-D986F8F0B6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1" t="9715" r="21722" b="34142"/>
          <a:stretch/>
        </p:blipFill>
        <p:spPr bwMode="auto">
          <a:xfrm>
            <a:off x="1542084" y="1254051"/>
            <a:ext cx="712003" cy="70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A4DBC1-B2FD-FEB5-11B9-4465EBCCFC3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4096" y="435366"/>
            <a:ext cx="582306" cy="7494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42FC17-B86B-3E12-F1B7-5E8377D6075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55685" y="-1258104"/>
            <a:ext cx="6858000" cy="853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11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</TotalTime>
  <Words>199</Words>
  <Application>Microsoft Office PowerPoint</Application>
  <PresentationFormat>Letter Paper (8.5x11 in)</PresentationFormat>
  <Paragraphs>46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ZhengHan</dc:creator>
  <cp:lastModifiedBy>ZhengHan</cp:lastModifiedBy>
  <cp:revision>10</cp:revision>
  <dcterms:created xsi:type="dcterms:W3CDTF">2025-04-13T23:50:52Z</dcterms:created>
  <dcterms:modified xsi:type="dcterms:W3CDTF">2025-04-14T22:05:39Z</dcterms:modified>
</cp:coreProperties>
</file>